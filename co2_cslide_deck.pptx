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91840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731520" y="3200400"/>
            <a:ext cx="4114800" cy="4114800"/>
          </a:xfrm>
          <a:prstGeom prst="ellipse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502920"/>
            <a:ext cx="2834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CO₂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228600" y="1600200"/>
            <a:ext cx="28346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Compound</a:t>
            </a:r>
            <a:endParaRPr lang="en-US" sz="2200" dirty="0"/>
          </a:p>
          <a:p>
            <a:pPr algn="l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</a:t>
            </a:r>
            <a:endParaRPr lang="en-US" sz="2200" dirty="0"/>
          </a:p>
          <a:p>
            <a:pPr algn="l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228600" y="3749040"/>
            <a:ext cx="1005840" cy="2743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28600" y="374904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Source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657600" y="777240"/>
            <a:ext cx="5029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Opinionated AI-Assisted</a:t>
            </a:r>
            <a:endParaRPr lang="en-US" sz="3000" dirty="0"/>
          </a:p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 Workflow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3657600" y="2194560"/>
            <a:ext cx="5120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CO2 eliminates AI hallucination and AI slop by mandating</a:t>
            </a:r>
            <a:endParaRPr lang="en-US" sz="135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comprehensive, structured context before a single line of</a:t>
            </a:r>
            <a:endParaRPr lang="en-US" sz="135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is generated — powered by Claude Code.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3657600" y="3703320"/>
            <a:ext cx="5029200" cy="36576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0" y="384048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github.com/rashidee/co2-skills  ·  Claude Code Plugin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3657600" y="4160520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/plugin install </a:t>
            </a:r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co2-skills@co2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0116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 with AI-Assisted Development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02920" y="7589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Unstructured context leads to three critical failure modes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1051560"/>
            <a:ext cx="265176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64748B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02920" y="1051560"/>
            <a:ext cx="2651760" cy="50292"/>
          </a:xfrm>
          <a:prstGeom prst="rect">
            <a:avLst/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508760" y="1234440"/>
            <a:ext cx="640080" cy="640080"/>
          </a:xfrm>
          <a:prstGeom prst="ellipse">
            <a:avLst/>
          </a:prstGeom>
          <a:solidFill>
            <a:srgbClr val="FFE4E6"/>
          </a:solidFill>
          <a:ln w="12700">
            <a:solidFill>
              <a:srgbClr val="FFE4E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508760" y="12344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🤖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640080" y="196596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Hallucination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1463040" y="2377440"/>
            <a:ext cx="731520" cy="36576"/>
          </a:xfrm>
          <a:prstGeom prst="rect">
            <a:avLst/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67512" y="2487168"/>
            <a:ext cx="23317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generate plausible-looking but factually incorrect code, wrong API contracts, and invented dependencies when context is thin or ambiguous.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337560" y="1051560"/>
            <a:ext cx="265176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64748B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337560" y="1051560"/>
            <a:ext cx="2651760" cy="5029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343400" y="1234440"/>
            <a:ext cx="640080" cy="640080"/>
          </a:xfrm>
          <a:prstGeom prst="ellipse">
            <a:avLst/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343400" y="12344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🗑️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3474720" y="196596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Slop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4297680" y="2377440"/>
            <a:ext cx="731520" cy="36576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502152" y="2487168"/>
            <a:ext cx="23317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Syntactically valid but semantically wrong output — code that compiles and runs yet fails to meet the actual business requirement. Expensive to detect late.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172200" y="1051560"/>
            <a:ext cx="265176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64748B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172200" y="1051560"/>
            <a:ext cx="2651760" cy="50292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178040" y="1234440"/>
            <a:ext cx="640080" cy="640080"/>
          </a:xfrm>
          <a:prstGeom prst="ellipse">
            <a:avLst/>
          </a:prstGeom>
          <a:solidFill>
            <a:srgbClr val="E0E7FF"/>
          </a:solidFill>
          <a:ln w="12700">
            <a:solidFill>
              <a:srgbClr val="E0E7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178040" y="12344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🔗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6309360" y="196596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Traceability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7132320" y="2377440"/>
            <a:ext cx="731520" cy="36576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36792" y="2487168"/>
            <a:ext cx="23317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code drifts from requirements with no audit trail linking implementation decisions back to User Stories, NFRs, or Constraints.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502920" y="4681728"/>
            <a:ext cx="8138160" cy="347472"/>
          </a:xfrm>
          <a:prstGeom prst="rect">
            <a:avLst/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0080" y="4681728"/>
            <a:ext cx="8001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 CO2 enforces structured context before a single line of code is generated — addressing all three failure modes.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0116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 &amp; Key Features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02920" y="7589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CO2 is designed to achieve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1051560"/>
            <a:ext cx="3200400" cy="38862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  <a:effectLst>
            <a:outerShdw sx="100000" sy="100000" kx="0" ky="0" algn="bl" rotWithShape="0" blurRad="76200" dist="25400" dir="8100000">
              <a:srgbClr val="64748B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02920" y="1051560"/>
            <a:ext cx="64008" cy="38862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188720"/>
            <a:ext cx="2880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3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85800" y="1481328"/>
            <a:ext cx="2880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</a:t>
            </a:r>
            <a:endParaRPr lang="en-US" sz="2200" dirty="0"/>
          </a:p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Hallucination</a:t>
            </a:r>
            <a:endParaRPr lang="en-US" sz="2200" dirty="0"/>
          </a:p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AI Slop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685800" y="2880360"/>
            <a:ext cx="28803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CO2 is an opinionated, structured development workflow powered by Claude Code. It mandates comprehensive context engineering before any development begins — ensuring the agent always operates with the full picture.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886200" y="1051560"/>
            <a:ext cx="484632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64748B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886200" y="1051560"/>
            <a:ext cx="50292" cy="8686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023360" y="1252728"/>
            <a:ext cx="475488" cy="475488"/>
          </a:xfrm>
          <a:prstGeom prst="ellipse">
            <a:avLst/>
          </a:prstGeom>
          <a:solidFill>
            <a:srgbClr val="CCFBF1"/>
          </a:solidFill>
          <a:ln w="12700">
            <a:solidFill>
              <a:srgbClr val="CCFBF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023360" y="125272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📝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617720" y="1143000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Story-Driven Design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4617720" y="1453896"/>
            <a:ext cx="4023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Stories → UI/UX  ·  NFRs → business logic  ·  Constraints → technical decisions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886200" y="2029968"/>
            <a:ext cx="484632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64748B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886200" y="2029968"/>
            <a:ext cx="50292" cy="868680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023360" y="2231136"/>
            <a:ext cx="475488" cy="475488"/>
          </a:xfrm>
          <a:prstGeom prst="ellipse">
            <a:avLst/>
          </a:prstGeom>
          <a:solidFill>
            <a:srgbClr val="E0E7FF"/>
          </a:solidFill>
          <a:ln w="12700">
            <a:solidFill>
              <a:srgbClr val="E0E7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023360" y="223113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🔄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4617720" y="2121408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Versioned Context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4617720" y="2432304"/>
            <a:ext cx="4023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PRD.md is versioned throughout the project lifecycle with full change history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886200" y="3008376"/>
            <a:ext cx="484632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64748B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886200" y="3008376"/>
            <a:ext cx="50292" cy="8686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023360" y="3209544"/>
            <a:ext cx="475488" cy="475488"/>
          </a:xfrm>
          <a:prstGeom prst="ellipse">
            <a:avLst/>
          </a:prstGeom>
          <a:solidFill>
            <a:srgbClr val="EDE9FE"/>
          </a:solidFill>
          <a:ln w="12700">
            <a:solidFill>
              <a:srgbClr val="EDE9F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023360" y="320954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📦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4617720" y="3099816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Multi-App Support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4617720" y="3410712"/>
            <a:ext cx="4023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Microservices, SPA + REST API, and mobile + backend architectures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3886200" y="3986784"/>
            <a:ext cx="484632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64748B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3886200" y="3986784"/>
            <a:ext cx="50292" cy="86868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023360" y="4187952"/>
            <a:ext cx="475488" cy="475488"/>
          </a:xfrm>
          <a:prstGeom prst="ellipse">
            <a:avLst/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023360" y="418795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🔗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4617720" y="4078224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Traceability</a:t>
            </a:r>
            <a:endParaRPr lang="en-US" sz="1350" dirty="0"/>
          </a:p>
        </p:txBody>
      </p:sp>
      <p:sp>
        <p:nvSpPr>
          <p:cNvPr id="33" name="Text 31"/>
          <p:cNvSpPr/>
          <p:nvPr/>
        </p:nvSpPr>
        <p:spPr>
          <a:xfrm>
            <a:off x="4617720" y="4389120"/>
            <a:ext cx="4023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artifact traces back to a tagged [USL000001], [NFRL000001] or [CONL000001]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0116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CO2 Development Workflow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02920" y="7589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phases from idea to production-ready code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1024128"/>
            <a:ext cx="1335024" cy="2606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64748B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02920" y="1024128"/>
            <a:ext cx="1335024" cy="502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41832" y="1207008"/>
            <a:ext cx="457200" cy="457200"/>
          </a:xfrm>
          <a:prstGeom prst="ellipse">
            <a:avLst/>
          </a:prstGeom>
          <a:solidFill>
            <a:srgbClr val="CCFBF1"/>
          </a:solidFill>
          <a:ln w="12700">
            <a:solidFill>
              <a:srgbClr val="CCFBF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41832" y="12070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76072" y="1801368"/>
            <a:ext cx="1188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822960" y="2606040"/>
            <a:ext cx="694944" cy="2743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76072" y="2697480"/>
            <a:ext cx="1188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CLAUDE.md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SECRET.md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1847088" y="2286000"/>
            <a:ext cx="54864" cy="54864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901952" y="1024128"/>
            <a:ext cx="1335024" cy="2606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64748B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1901952" y="1024128"/>
            <a:ext cx="1335024" cy="50292"/>
          </a:xfrm>
          <a:prstGeom prst="rect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340864" y="1207008"/>
            <a:ext cx="457200" cy="457200"/>
          </a:xfrm>
          <a:prstGeom prst="ellipse">
            <a:avLst/>
          </a:prstGeom>
          <a:solidFill>
            <a:srgbClr val="E0F2FE"/>
          </a:solidFill>
          <a:ln w="12700">
            <a:solidFill>
              <a:srgbClr val="E0F2F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340864" y="12070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28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975104" y="1801368"/>
            <a:ext cx="1188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PRD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2221992" y="2606040"/>
            <a:ext cx="694944" cy="2743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975104" y="2697480"/>
            <a:ext cx="1188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Stories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NFRs · Constraints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246120" y="2286000"/>
            <a:ext cx="54864" cy="54864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300984" y="1024128"/>
            <a:ext cx="1335024" cy="2606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64748B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300984" y="1024128"/>
            <a:ext cx="1335024" cy="50292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739896" y="1207008"/>
            <a:ext cx="457200" cy="457200"/>
          </a:xfrm>
          <a:prstGeom prst="ellipse">
            <a:avLst/>
          </a:prstGeom>
          <a:solidFill>
            <a:srgbClr val="E0E7FF"/>
          </a:solidFill>
          <a:ln w="12700">
            <a:solidFill>
              <a:srgbClr val="E0E7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739896" y="12070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374136" y="1801368"/>
            <a:ext cx="1188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PRD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Clean-Up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3621024" y="2606040"/>
            <a:ext cx="694944" cy="2743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374136" y="2697480"/>
            <a:ext cx="1188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 · Validate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 Modules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645152" y="2286000"/>
            <a:ext cx="54864" cy="54864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700016" y="1024128"/>
            <a:ext cx="1335024" cy="2606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64748B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700016" y="1024128"/>
            <a:ext cx="1335024" cy="50292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138928" y="1207008"/>
            <a:ext cx="457200" cy="457200"/>
          </a:xfrm>
          <a:prstGeom prst="ellipse">
            <a:avLst/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138928" y="12070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773168" y="1801368"/>
            <a:ext cx="1188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Artifact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Generation</a:t>
            </a:r>
            <a:endParaRPr lang="en-US" sz="1250" dirty="0"/>
          </a:p>
        </p:txBody>
      </p:sp>
      <p:sp>
        <p:nvSpPr>
          <p:cNvPr id="34" name="Shape 32"/>
          <p:cNvSpPr/>
          <p:nvPr/>
        </p:nvSpPr>
        <p:spPr>
          <a:xfrm>
            <a:off x="5020056" y="2606040"/>
            <a:ext cx="694944" cy="2743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773168" y="2697480"/>
            <a:ext cx="1188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· Mockups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Specs · Tests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6044184" y="2286000"/>
            <a:ext cx="54864" cy="54864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099048" y="1024128"/>
            <a:ext cx="1335024" cy="2606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64748B">
                <a:alpha val="10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6099048" y="1024128"/>
            <a:ext cx="1335024" cy="5029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537960" y="1207008"/>
            <a:ext cx="457200" cy="457200"/>
          </a:xfrm>
          <a:prstGeom prst="ellipse">
            <a:avLst/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537960" y="12070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6172200" y="1801368"/>
            <a:ext cx="1188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</a:t>
            </a:r>
            <a:endParaRPr lang="en-US" sz="1250" dirty="0"/>
          </a:p>
        </p:txBody>
      </p:sp>
      <p:sp>
        <p:nvSpPr>
          <p:cNvPr id="42" name="Shape 40"/>
          <p:cNvSpPr/>
          <p:nvPr/>
        </p:nvSpPr>
        <p:spPr>
          <a:xfrm>
            <a:off x="6419088" y="2606040"/>
            <a:ext cx="694944" cy="2743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172200" y="2697480"/>
            <a:ext cx="1188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Conductor Skills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by Module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7443216" y="2286000"/>
            <a:ext cx="54864" cy="54864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7498080" y="1024128"/>
            <a:ext cx="1335024" cy="2606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64748B">
                <a:alpha val="10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7498080" y="1024128"/>
            <a:ext cx="1335024" cy="50292"/>
          </a:xfrm>
          <a:prstGeom prst="rect">
            <a:avLst/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7936992" y="1207008"/>
            <a:ext cx="457200" cy="457200"/>
          </a:xfrm>
          <a:prstGeom prst="ellipse">
            <a:avLst/>
          </a:prstGeom>
          <a:solidFill>
            <a:srgbClr val="FFE4E6"/>
          </a:solidFill>
          <a:ln w="12700">
            <a:solidFill>
              <a:srgbClr val="FFE4E6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936992" y="12070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11D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7571232" y="1801368"/>
            <a:ext cx="1188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Fixing</a:t>
            </a:r>
            <a:endParaRPr lang="en-US" sz="1250" dirty="0"/>
          </a:p>
        </p:txBody>
      </p:sp>
      <p:sp>
        <p:nvSpPr>
          <p:cNvPr id="50" name="Shape 48"/>
          <p:cNvSpPr/>
          <p:nvPr/>
        </p:nvSpPr>
        <p:spPr>
          <a:xfrm>
            <a:off x="7818120" y="2606040"/>
            <a:ext cx="694944" cy="2743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7571232" y="2697480"/>
            <a:ext cx="1188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BUG.md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 Fix &amp; Verify</a:t>
            </a:r>
            <a:endParaRPr lang="en-US" sz="950" dirty="0"/>
          </a:p>
        </p:txBody>
      </p:sp>
      <p:sp>
        <p:nvSpPr>
          <p:cNvPr id="52" name="Shape 50"/>
          <p:cNvSpPr/>
          <p:nvPr/>
        </p:nvSpPr>
        <p:spPr>
          <a:xfrm>
            <a:off x="502920" y="3794760"/>
            <a:ext cx="8138160" cy="347472"/>
          </a:xfrm>
          <a:prstGeom prst="rect">
            <a:avLst/>
          </a:prstGeom>
          <a:solidFill>
            <a:srgbClr val="FFE4E6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40080" y="3794760"/>
            <a:ext cx="8001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E11D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↩  Bug Fixing Loop — /conductor-defect automatically updates all affected artifacts on each fix</a:t>
            </a:r>
            <a:endParaRPr lang="en-US" sz="1150" dirty="0"/>
          </a:p>
        </p:txBody>
      </p:sp>
      <p:sp>
        <p:nvSpPr>
          <p:cNvPr id="54" name="Shape 52"/>
          <p:cNvSpPr/>
          <p:nvPr/>
        </p:nvSpPr>
        <p:spPr>
          <a:xfrm>
            <a:off x="502920" y="4279392"/>
            <a:ext cx="8138160" cy="6858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85800" y="4315968"/>
            <a:ext cx="7863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/plugin marketplace add </a:t>
            </a:r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rashidee/co2-skills</a:t>
            </a:r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&amp;&amp;    /plugin install </a:t>
            </a:r>
            <a:pPr indent="0" marL="0">
              <a:buNone/>
            </a:pPr>
            <a:r>
              <a:rPr lang="en-US" sz="1200" b="1" dirty="0">
                <a:solidFill>
                  <a:srgbClr val="4F46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co2-skills@co2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0116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· Context Window Preparation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02920" y="7589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 the AI agent with everything it needs before work begins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1051560"/>
            <a:ext cx="3931920" cy="38587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64748B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02920" y="1051560"/>
            <a:ext cx="3931920" cy="502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18872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📄  CLAUDE.md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40080" y="1627632"/>
            <a:ext cx="3566160" cy="256032"/>
          </a:xfrm>
          <a:prstGeom prst="rect">
            <a:avLst/>
          </a:prstGeom>
          <a:solidFill>
            <a:srgbClr val="CCFBF1"/>
          </a:solidFill>
          <a:ln w="12700">
            <a:solidFill>
              <a:srgbClr val="CCFBF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1627632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Shared by team · Committed to repository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58368" y="1993392"/>
            <a:ext cx="3611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code, name and description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58368" y="2386584"/>
            <a:ext cx="3611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goals and success criteria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58368" y="2779776"/>
            <a:ext cx="3611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terminology &amp; domain glossary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58368" y="3172968"/>
            <a:ext cx="3611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listing (1 or more apps)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58368" y="3566160"/>
            <a:ext cx="3611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&amp; Business module definitions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663440" y="1051560"/>
            <a:ext cx="3977640" cy="38587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64748B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663440" y="1051560"/>
            <a:ext cx="3977640" cy="50292"/>
          </a:xfrm>
          <a:prstGeom prst="rect">
            <a:avLst/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00600" y="118872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  SECRET.md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4800600" y="1627632"/>
            <a:ext cx="3657600" cy="256032"/>
          </a:xfrm>
          <a:prstGeom prst="rect">
            <a:avLst/>
          </a:prstGeom>
          <a:solidFill>
            <a:srgbClr val="FFE4E6"/>
          </a:solidFill>
          <a:ln w="12700">
            <a:solidFill>
              <a:srgbClr val="FFE4E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46320" y="1627632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11D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🚫  For agent only · NEVER committed to repo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818888" y="1993392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11D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connection strings &amp; credentials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818888" y="2386584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11D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Third-party API keys and secrets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818888" y="2779776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11D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 config (dev / staging / prod)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818888" y="3172968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11D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account tokens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818888" y="356616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11D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sensitive runtime configuration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0116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2–3 · PRD Development &amp; Clean-Up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02920" y="7589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PRD.md is the single versioned source of truth for all artifacts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1051560"/>
            <a:ext cx="3931920" cy="385876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64748B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85800" y="1170432"/>
            <a:ext cx="3566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PRD.md Structure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85800" y="1572768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Business Modules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685800" y="1865376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F46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## Auth Module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685800" y="2157984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### User Story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685800" y="2450592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D9770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[v1.0.0]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685800" y="2743200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[USL000001] As a user...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685800" y="3035808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### Non-Functional Req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685800" y="3328416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D9770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[v1.0.0]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685800" y="3621024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[NFRL000001] 99.9% uptime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85800" y="3913632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### Constraint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85800" y="4206240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D9770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[v1.0.0]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685800" y="4498848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[CONL000001] Java 17 only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617720" y="1051560"/>
            <a:ext cx="4023360" cy="12070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64748B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617720" y="1051560"/>
            <a:ext cx="50292" cy="120700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736592" y="1179576"/>
            <a:ext cx="457200" cy="457200"/>
          </a:xfrm>
          <a:prstGeom prst="ellipse">
            <a:avLst/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36592" y="11795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59669"/>
                </a:solidFill>
              </a:rPr>
              <a:t>/U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303520" y="11430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/util-ustagger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303520" y="141732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 for Traceability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303520" y="169164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Tags every US, NFR, Constraint and Reference with a unique 9-char ID [USL000001] for full downstream traceability.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617720" y="2368296"/>
            <a:ext cx="4023360" cy="12070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64748B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617720" y="2368296"/>
            <a:ext cx="50292" cy="120700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736592" y="2496312"/>
            <a:ext cx="457200" cy="457200"/>
          </a:xfrm>
          <a:prstGeom prst="ellipse">
            <a:avLst/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36592" y="24963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97706"/>
                </a:solidFill>
              </a:rPr>
              <a:t>/U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5303520" y="245973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9770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/util-usanalyzer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303520" y="2734056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Analysis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5303520" y="3008376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Detects incomplete stories, bad references, contradictions and duplicates. Outputs a structured improvement report.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4617720" y="3685032"/>
            <a:ext cx="4023360" cy="12070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64748B">
                <a:alpha val="10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617720" y="3685032"/>
            <a:ext cx="50292" cy="120700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736592" y="3813048"/>
            <a:ext cx="457200" cy="457200"/>
          </a:xfrm>
          <a:prstGeom prst="ellipse">
            <a:avLst/>
          </a:prstGeom>
          <a:solidFill>
            <a:srgbClr val="EDE9FE"/>
          </a:solidFill>
          <a:ln w="12700">
            <a:solidFill>
              <a:srgbClr val="EDE9FE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736592" y="38130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7C3AED"/>
                </a:solidFill>
              </a:rPr>
              <a:t>/M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5303520" y="377647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/util-modulesync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5303520" y="4050792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Synchronization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5303520" y="4325112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Keeps CLAUDE.md, PRD.md and BUG.md module structures in sync — ensures all docs share the canonical structure.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0116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 · Artifact Generation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02920" y="7589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interconnected artifacts generated from PRD.md — reviewed before development starts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1033272"/>
            <a:ext cx="416052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64748B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02920" y="1033272"/>
            <a:ext cx="4160520" cy="502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46120" y="1106424"/>
            <a:ext cx="1298448" cy="256032"/>
          </a:xfrm>
          <a:prstGeom prst="rect">
            <a:avLst/>
          </a:prstGeom>
          <a:solidFill>
            <a:srgbClr val="CCFBF1"/>
          </a:solidFill>
          <a:ln w="12700">
            <a:solidFill>
              <a:srgbClr val="CCFBF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46120" y="1106424"/>
            <a:ext cx="1298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model/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40080" y="1124712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🗄️  Data Models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640080" y="1490472"/>
            <a:ext cx="3886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/modelgen-relational / modelgen-nosql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640080" y="1783080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Entity definitions with attributes &amp; types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40080" y="2057400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Relationships and cardinality (DDD)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40080" y="2331720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ERD diagrams in Mermaid syntax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40080" y="2606040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and NoSQL database support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846320" y="1033272"/>
            <a:ext cx="416052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64748B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846320" y="1033272"/>
            <a:ext cx="4160520" cy="50292"/>
          </a:xfrm>
          <a:prstGeom prst="rect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589520" y="1106424"/>
            <a:ext cx="1298448" cy="256032"/>
          </a:xfrm>
          <a:prstGeom prst="rect">
            <a:avLst/>
          </a:prstGeom>
          <a:solidFill>
            <a:srgbClr val="E0F2FE"/>
          </a:solidFill>
          <a:ln w="12700">
            <a:solidFill>
              <a:srgbClr val="E0F2F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589520" y="1106424"/>
            <a:ext cx="1298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284C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mockup/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983480" y="1124712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🖼️  HTML Mockups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4983480" y="1490472"/>
            <a:ext cx="3886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284C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/mockgen-tailwind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4983480" y="1783080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8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Tailwind CSS screens per user role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983480" y="2057400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8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Served via Node.js + Express + HTMX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983480" y="2331720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8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MOCKUP.html landing with US traceability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983480" y="2606040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8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Interactive, review-ready UI prototypes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02920" y="3108960"/>
            <a:ext cx="416052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64748B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502920" y="3108960"/>
            <a:ext cx="4160520" cy="5029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246120" y="3182112"/>
            <a:ext cx="1298448" cy="256032"/>
          </a:xfrm>
          <a:prstGeom prst="rect">
            <a:avLst/>
          </a:prstGeom>
          <a:solidFill>
            <a:srgbClr val="EDE9FE"/>
          </a:solidFill>
          <a:ln w="12700">
            <a:solidFill>
              <a:srgbClr val="EDE9F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246120" y="3182112"/>
            <a:ext cx="1298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specification/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640080" y="3200400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Technical Specs</a:t>
            </a:r>
            <a:endParaRPr lang="en-US" sz="1450" dirty="0"/>
          </a:p>
        </p:txBody>
      </p:sp>
      <p:sp>
        <p:nvSpPr>
          <p:cNvPr id="30" name="Text 28"/>
          <p:cNvSpPr/>
          <p:nvPr/>
        </p:nvSpPr>
        <p:spPr>
          <a:xfrm>
            <a:off x="640080" y="3566160"/>
            <a:ext cx="3886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/specgen-spring-jpa-* / specgen-laravel-*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640080" y="3858768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&amp; component definitions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40080" y="4133088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 endpoint contracts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40080" y="4407408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Per-module SPEC.md files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40080" y="4681728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Stack-specific implementation detail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4846320" y="3108960"/>
            <a:ext cx="416052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64748B">
                <a:alpha val="10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4846320" y="3108960"/>
            <a:ext cx="4160520" cy="5029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7589520" y="3182112"/>
            <a:ext cx="1298448" cy="256032"/>
          </a:xfrm>
          <a:prstGeom prst="rect">
            <a:avLst/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589520" y="3182112"/>
            <a:ext cx="1298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9770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test/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4983480" y="3200400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🧪  Test Specifications</a:t>
            </a:r>
            <a:endParaRPr lang="en-US" sz="1450" dirty="0"/>
          </a:p>
        </p:txBody>
      </p:sp>
      <p:sp>
        <p:nvSpPr>
          <p:cNvPr id="40" name="Text 38"/>
          <p:cNvSpPr/>
          <p:nvPr/>
        </p:nvSpPr>
        <p:spPr>
          <a:xfrm>
            <a:off x="4983480" y="3566160"/>
            <a:ext cx="3886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9770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/testgen-functional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4983480" y="3858768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Playwright E2E test blueprints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4983480" y="4133088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Per-module TEST_SPEC.md files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4983480" y="4407408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TEST_PLAN.mmd execution order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4983480" y="4681728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Functional &amp; visual consistency tests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0116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CO2 Skills Catalog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02920" y="7589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skills across 6 categories — invoke directly from Claude Code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960120"/>
            <a:ext cx="2697480" cy="20848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64748B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02920" y="960120"/>
            <a:ext cx="2697480" cy="50292"/>
          </a:xfrm>
          <a:prstGeom prst="rect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12648" y="105156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🛠️  Utility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12648" y="1463040"/>
            <a:ext cx="2478024" cy="347472"/>
          </a:xfrm>
          <a:prstGeom prst="rect">
            <a:avLst/>
          </a:prstGeom>
          <a:solidFill>
            <a:srgbClr val="E0F2FE"/>
          </a:solidFill>
          <a:ln w="12700">
            <a:solidFill>
              <a:srgbClr val="E0F2F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1481328"/>
            <a:ext cx="2423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284C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/util-ustagger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12648" y="1920240"/>
            <a:ext cx="2478024" cy="347472"/>
          </a:xfrm>
          <a:prstGeom prst="rect">
            <a:avLst/>
          </a:prstGeom>
          <a:solidFill>
            <a:srgbClr val="E0F2FE"/>
          </a:solidFill>
          <a:ln w="12700">
            <a:solidFill>
              <a:srgbClr val="E0F2F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" y="1938528"/>
            <a:ext cx="2423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284C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/util-usanalyzer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12648" y="2377440"/>
            <a:ext cx="2478024" cy="347472"/>
          </a:xfrm>
          <a:prstGeom prst="rect">
            <a:avLst/>
          </a:prstGeom>
          <a:solidFill>
            <a:srgbClr val="E0F2FE"/>
          </a:solidFill>
          <a:ln w="12700">
            <a:solidFill>
              <a:srgbClr val="E0F2F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2395728"/>
            <a:ext cx="2423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284C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/util-modulesync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364992" y="960120"/>
            <a:ext cx="2697480" cy="20848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64748B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364992" y="960120"/>
            <a:ext cx="2697480" cy="502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474720" y="105156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🗄️  Model Gen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474720" y="1463040"/>
            <a:ext cx="2478024" cy="347472"/>
          </a:xfrm>
          <a:prstGeom prst="rect">
            <a:avLst/>
          </a:prstGeom>
          <a:solidFill>
            <a:srgbClr val="CCFBF1"/>
          </a:solidFill>
          <a:ln w="12700">
            <a:solidFill>
              <a:srgbClr val="CCFBF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547872" y="1481328"/>
            <a:ext cx="2423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/modelgen-relational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474720" y="1920240"/>
            <a:ext cx="2478024" cy="347472"/>
          </a:xfrm>
          <a:prstGeom prst="rect">
            <a:avLst/>
          </a:prstGeom>
          <a:solidFill>
            <a:srgbClr val="CCFBF1"/>
          </a:solidFill>
          <a:ln w="12700">
            <a:solidFill>
              <a:srgbClr val="CCFBF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547872" y="1938528"/>
            <a:ext cx="2423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/modelgen-nosql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227064" y="960120"/>
            <a:ext cx="2697480" cy="20848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64748B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227064" y="960120"/>
            <a:ext cx="2697480" cy="50292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336792" y="105156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🖼️  Mockup Gen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336792" y="1463040"/>
            <a:ext cx="2478024" cy="347472"/>
          </a:xfrm>
          <a:prstGeom prst="rect">
            <a:avLst/>
          </a:prstGeom>
          <a:solidFill>
            <a:srgbClr val="E0E7FF"/>
          </a:solidFill>
          <a:ln w="12700">
            <a:solidFill>
              <a:srgbClr val="E0E7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09944" y="1481328"/>
            <a:ext cx="2423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F46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/mockgen-tailwind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502920" y="3136392"/>
            <a:ext cx="2697480" cy="20848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64748B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502920" y="3136392"/>
            <a:ext cx="2697480" cy="5029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12648" y="3227832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Spec Gen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12648" y="3639312"/>
            <a:ext cx="2478024" cy="347472"/>
          </a:xfrm>
          <a:prstGeom prst="rect">
            <a:avLst/>
          </a:prstGeom>
          <a:solidFill>
            <a:srgbClr val="EDE9FE"/>
          </a:solidFill>
          <a:ln w="12700">
            <a:solidFill>
              <a:srgbClr val="EDE9F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85800" y="3657600"/>
            <a:ext cx="2423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/specgen-spring-jpa-jtehtmx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612648" y="4096512"/>
            <a:ext cx="2478024" cy="347472"/>
          </a:xfrm>
          <a:prstGeom prst="rect">
            <a:avLst/>
          </a:prstGeom>
          <a:solidFill>
            <a:srgbClr val="EDE9FE"/>
          </a:solidFill>
          <a:ln w="12700">
            <a:solidFill>
              <a:srgbClr val="EDE9F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85800" y="4114800"/>
            <a:ext cx="2423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/specgen-spring-jpa-restapi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612648" y="4553712"/>
            <a:ext cx="2478024" cy="347472"/>
          </a:xfrm>
          <a:prstGeom prst="rect">
            <a:avLst/>
          </a:prstGeom>
          <a:solidFill>
            <a:srgbClr val="EDE9FE"/>
          </a:solidFill>
          <a:ln w="12700">
            <a:solidFill>
              <a:srgbClr val="EDE9F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85800" y="4572000"/>
            <a:ext cx="2423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/specgen-laravel-eloquent-bladehtmx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3364992" y="3136392"/>
            <a:ext cx="2697480" cy="20848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64748B">
                <a:alpha val="10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3364992" y="3136392"/>
            <a:ext cx="2697480" cy="50292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474720" y="3227832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🧪  Test Gen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3474720" y="3639312"/>
            <a:ext cx="2478024" cy="347472"/>
          </a:xfrm>
          <a:prstGeom prst="rect">
            <a:avLst/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547872" y="3657600"/>
            <a:ext cx="2423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/testgen-functional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6227064" y="3136392"/>
            <a:ext cx="2697480" cy="20848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64748B">
                <a:alpha val="10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6227064" y="3136392"/>
            <a:ext cx="2697480" cy="50292"/>
          </a:xfrm>
          <a:prstGeom prst="rect">
            <a:avLst/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336792" y="3227832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🎼  Conductors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6336792" y="3639312"/>
            <a:ext cx="2478024" cy="347472"/>
          </a:xfrm>
          <a:prstGeom prst="rect">
            <a:avLst/>
          </a:prstGeom>
          <a:solidFill>
            <a:srgbClr val="FFE4E6"/>
          </a:solidFill>
          <a:ln w="12700">
            <a:solidFill>
              <a:srgbClr val="FFE4E6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409944" y="3657600"/>
            <a:ext cx="2423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11D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/conductor-feature-prepare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6336792" y="4096512"/>
            <a:ext cx="2478024" cy="347472"/>
          </a:xfrm>
          <a:prstGeom prst="rect">
            <a:avLst/>
          </a:prstGeom>
          <a:solidFill>
            <a:srgbClr val="FFE4E6"/>
          </a:solidFill>
          <a:ln w="12700">
            <a:solidFill>
              <a:srgbClr val="FFE4E6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409944" y="4114800"/>
            <a:ext cx="2423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11D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/conductor-feature-develop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6336792" y="4553712"/>
            <a:ext cx="2478024" cy="347472"/>
          </a:xfrm>
          <a:prstGeom prst="rect">
            <a:avLst/>
          </a:prstGeom>
          <a:solidFill>
            <a:srgbClr val="FFE4E6"/>
          </a:solidFill>
          <a:ln w="12700">
            <a:solidFill>
              <a:srgbClr val="FFE4E6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409944" y="4572000"/>
            <a:ext cx="2423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11D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/conductor-defect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0116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6 · Automated Bug Fixing Workflow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02920" y="7589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bug report to verified fix — fully orchestrated by /conductor-defect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1033272"/>
            <a:ext cx="278892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64748B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02920" y="1033272"/>
            <a:ext cx="2788920" cy="5029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30936" y="1197864"/>
            <a:ext cx="438912" cy="438912"/>
          </a:xfrm>
          <a:prstGeom prst="ellipse">
            <a:avLst/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30936" y="119786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161288" y="1216152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Bug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30936" y="1691640"/>
            <a:ext cx="2514600" cy="2743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0936" y="1783080"/>
            <a:ext cx="2523744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bug in BUG.md with priority, steps to reproduce, and expected result. Automatically tagged [BUG-XXX].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3410712" y="1033272"/>
            <a:ext cx="278892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64748B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410712" y="1033272"/>
            <a:ext cx="2788920" cy="50292"/>
          </a:xfrm>
          <a:prstGeom prst="rect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538728" y="1197864"/>
            <a:ext cx="438912" cy="438912"/>
          </a:xfrm>
          <a:prstGeom prst="ellipse">
            <a:avLst/>
          </a:prstGeom>
          <a:solidFill>
            <a:srgbClr val="E0F2FE"/>
          </a:solidFill>
          <a:ln w="12700">
            <a:solidFill>
              <a:srgbClr val="E0F2F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538728" y="119786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28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069080" y="1216152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Reproduce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3538728" y="1691640"/>
            <a:ext cx="2514600" cy="2743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538728" y="1783080"/>
            <a:ext cx="2523744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writes and executes a Playwright script to reproduce the bug. Pre-fix screenshot captured as evidence.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318504" y="1033272"/>
            <a:ext cx="278892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64748B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318504" y="1033272"/>
            <a:ext cx="2788920" cy="5029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446520" y="1197864"/>
            <a:ext cx="438912" cy="438912"/>
          </a:xfrm>
          <a:prstGeom prst="ellipse">
            <a:avLst/>
          </a:prstGeom>
          <a:solidFill>
            <a:srgbClr val="EDE9FE"/>
          </a:solidFill>
          <a:ln w="12700">
            <a:solidFill>
              <a:srgbClr val="EDE9F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46520" y="119786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976872" y="1216152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Test Spec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6446520" y="1691640"/>
            <a:ext cx="2514600" cy="2743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46520" y="1783080"/>
            <a:ext cx="2523744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BUG_TEST_SPEC.md created with verification steps and expected outcomes before any fix is applied.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502920" y="3108960"/>
            <a:ext cx="278892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64748B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502920" y="3108960"/>
            <a:ext cx="2788920" cy="502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30936" y="3273552"/>
            <a:ext cx="438912" cy="438912"/>
          </a:xfrm>
          <a:prstGeom prst="ellipse">
            <a:avLst/>
          </a:prstGeom>
          <a:solidFill>
            <a:srgbClr val="CCFBF1"/>
          </a:solidFill>
          <a:ln w="12700">
            <a:solidFill>
              <a:srgbClr val="CCFBF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30936" y="327355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1161288" y="3291840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 &amp; Plan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630936" y="3767328"/>
            <a:ext cx="2514600" cy="2743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30936" y="3858768"/>
            <a:ext cx="2523744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cause identified. BUG_FIX_PLAN.md created with impacted files, fix checklist and timestamped approach.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3410712" y="3108960"/>
            <a:ext cx="278892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64748B">
                <a:alpha val="10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3410712" y="3108960"/>
            <a:ext cx="2788920" cy="50292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538728" y="3273552"/>
            <a:ext cx="438912" cy="438912"/>
          </a:xfrm>
          <a:prstGeom prst="ellipse">
            <a:avLst/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538728" y="327355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4069080" y="3291840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Fix</a:t>
            </a:r>
            <a:endParaRPr lang="en-US" sz="1400" dirty="0"/>
          </a:p>
        </p:txBody>
      </p:sp>
      <p:sp>
        <p:nvSpPr>
          <p:cNvPr id="38" name="Shape 36"/>
          <p:cNvSpPr/>
          <p:nvPr/>
        </p:nvSpPr>
        <p:spPr>
          <a:xfrm>
            <a:off x="3538728" y="3767328"/>
            <a:ext cx="2514600" cy="2743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538728" y="3858768"/>
            <a:ext cx="2523744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implements code changes per the plan. Progress logged with timestamps in BUG_FIX_PLAN.md.</a:t>
            </a:r>
            <a:endParaRPr lang="en-US" sz="1150" dirty="0"/>
          </a:p>
        </p:txBody>
      </p:sp>
      <p:sp>
        <p:nvSpPr>
          <p:cNvPr id="40" name="Shape 38"/>
          <p:cNvSpPr/>
          <p:nvPr/>
        </p:nvSpPr>
        <p:spPr>
          <a:xfrm>
            <a:off x="6318504" y="3108960"/>
            <a:ext cx="278892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64748B">
                <a:alpha val="10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6318504" y="3108960"/>
            <a:ext cx="2788920" cy="50292"/>
          </a:xfrm>
          <a:prstGeom prst="rect">
            <a:avLst/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446520" y="3273552"/>
            <a:ext cx="438912" cy="438912"/>
          </a:xfrm>
          <a:prstGeom prst="ellipse">
            <a:avLst/>
          </a:prstGeom>
          <a:solidFill>
            <a:srgbClr val="FFE4E6"/>
          </a:solidFill>
          <a:ln w="12700">
            <a:solidFill>
              <a:srgbClr val="FFE4E6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446520" y="327355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11D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44" name="Text 42"/>
          <p:cNvSpPr/>
          <p:nvPr/>
        </p:nvSpPr>
        <p:spPr>
          <a:xfrm>
            <a:off x="6976872" y="3291840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&amp; Sync</a:t>
            </a:r>
            <a:endParaRPr lang="en-US" sz="1400" dirty="0"/>
          </a:p>
        </p:txBody>
      </p:sp>
      <p:sp>
        <p:nvSpPr>
          <p:cNvPr id="45" name="Shape 43"/>
          <p:cNvSpPr/>
          <p:nvPr/>
        </p:nvSpPr>
        <p:spPr>
          <a:xfrm>
            <a:off x="6446520" y="3767328"/>
            <a:ext cx="2514600" cy="2743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446520" y="3858768"/>
            <a:ext cx="2523744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Playwright runs post-fix screenshot. Affected mockups, specs, models and PRD.md all updated to reflect the fix.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35040" y="0"/>
            <a:ext cx="3108960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-914400"/>
            <a:ext cx="3657600" cy="3657600"/>
          </a:xfrm>
          <a:prstGeom prst="ellipse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217920" y="2926080"/>
            <a:ext cx="3200400" cy="3200400"/>
          </a:xfrm>
          <a:prstGeom prst="ellipse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172200" y="41148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Started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172200" y="960120"/>
            <a:ext cx="27889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CCFB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/plugin marketplace add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CCFB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endParaRPr lang="en-US" sz="1050" dirty="0"/>
          </a:p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rashidee/co2-skills
</a:t>
            </a:r>
            <a:pPr algn="l" indent="0" marL="0">
              <a:buNone/>
            </a:pPr>
            <a:r>
              <a:rPr lang="en-US" sz="1050" dirty="0">
                <a:solidFill>
                  <a:srgbClr val="CCFB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/plugin install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CCFB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endParaRPr lang="en-US" sz="1050" dirty="0"/>
          </a:p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co2-skills@co2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6172200" y="2788920"/>
            <a:ext cx="2560320" cy="36576"/>
          </a:xfrm>
          <a:prstGeom prst="rect">
            <a:avLst/>
          </a:prstGeom>
          <a:solidFill>
            <a:srgbClr val="FFFFFF">
              <a:alpha val="40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172200" y="2907792"/>
            <a:ext cx="2788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github.com/rashidee/co2-skills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172200" y="3200400"/>
            <a:ext cx="2788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Issues · Docs · PRs Welcome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02920" y="365760"/>
            <a:ext cx="52120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Source</a:t>
            </a:r>
            <a:endParaRPr lang="en-US" sz="3400" dirty="0"/>
          </a:p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Community-Driven</a:t>
            </a:r>
            <a:endParaRPr lang="en-US" sz="3400" dirty="0"/>
          </a:p>
        </p:txBody>
      </p:sp>
      <p:sp>
        <p:nvSpPr>
          <p:cNvPr id="11" name="Shape 9"/>
          <p:cNvSpPr/>
          <p:nvPr/>
        </p:nvSpPr>
        <p:spPr>
          <a:xfrm>
            <a:off x="502920" y="1874520"/>
            <a:ext cx="1755648" cy="1353312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76200" dist="25400" dir="8100000">
              <a:srgbClr val="64748B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02920" y="1874520"/>
            <a:ext cx="1755648" cy="457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94360" y="1984248"/>
            <a:ext cx="1572768" cy="274320"/>
          </a:xfrm>
          <a:prstGeom prst="rect">
            <a:avLst/>
          </a:prstGeom>
          <a:solidFill>
            <a:srgbClr val="EDE9FE">
              <a:alpha val="80000"/>
            </a:srgbClr>
          </a:solidFill>
          <a:ln w="12700">
            <a:solidFill>
              <a:srgbClr val="EDE9FE">
                <a:alpha val="8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12648" y="1984248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/specgen-*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12648" y="2331720"/>
            <a:ext cx="15910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impact — add Django, NestJS, FastAPI, Flutter stacks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404872" y="1874520"/>
            <a:ext cx="1755648" cy="1353312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76200" dist="25400" dir="8100000">
              <a:srgbClr val="64748B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404872" y="1874520"/>
            <a:ext cx="1755648" cy="45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496312" y="1984248"/>
            <a:ext cx="1572768" cy="274320"/>
          </a:xfrm>
          <a:prstGeom prst="rect">
            <a:avLst/>
          </a:prstGeom>
          <a:solidFill>
            <a:srgbClr val="CCFBF1">
              <a:alpha val="80000"/>
            </a:srgbClr>
          </a:solidFill>
          <a:ln w="12700">
            <a:solidFill>
              <a:srgbClr val="CCFBF1">
                <a:alpha val="8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514600" y="1984248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/modelgen-*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2514600" y="2331720"/>
            <a:ext cx="15910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 (Neo4j), time-series and other NoSQL variants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306824" y="1874520"/>
            <a:ext cx="1755648" cy="1353312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76200" dist="25400" dir="8100000">
              <a:srgbClr val="64748B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306824" y="1874520"/>
            <a:ext cx="1755648" cy="45720"/>
          </a:xfrm>
          <a:prstGeom prst="rect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398264" y="1984248"/>
            <a:ext cx="1572768" cy="274320"/>
          </a:xfrm>
          <a:prstGeom prst="rect">
            <a:avLst/>
          </a:prstGeom>
          <a:solidFill>
            <a:srgbClr val="E0F2FE">
              <a:alpha val="80000"/>
            </a:srgbClr>
          </a:solidFill>
          <a:ln w="12700">
            <a:solidFill>
              <a:srgbClr val="E0F2FE">
                <a:alpha val="80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416552" y="1984248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284C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/mockgen-*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416552" y="2331720"/>
            <a:ext cx="15910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Bootstrap, Material UI, Ant Design, Shadcn alternatives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502920" y="3355848"/>
            <a:ext cx="1755648" cy="1353312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76200" dist="25400" dir="8100000">
              <a:srgbClr val="64748B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502920" y="3355848"/>
            <a:ext cx="1755648" cy="4572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94360" y="3465576"/>
            <a:ext cx="1572768" cy="274320"/>
          </a:xfrm>
          <a:prstGeom prst="rect">
            <a:avLst/>
          </a:prstGeom>
          <a:solidFill>
            <a:srgbClr val="D1FAE5">
              <a:alpha val="80000"/>
            </a:srgbClr>
          </a:solidFill>
          <a:ln w="12700">
            <a:solidFill>
              <a:srgbClr val="D1FAE5">
                <a:alpha val="80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12648" y="3465576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/testgen-*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12648" y="3813048"/>
            <a:ext cx="15910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Cypress, Selenium and other E2E testing frameworks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2404872" y="3355848"/>
            <a:ext cx="1755648" cy="1353312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76200" dist="25400" dir="8100000">
              <a:srgbClr val="64748B">
                <a:alpha val="1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2404872" y="3355848"/>
            <a:ext cx="1755648" cy="45720"/>
          </a:xfrm>
          <a:prstGeom prst="rect">
            <a:avLst/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496312" y="3465576"/>
            <a:ext cx="1572768" cy="274320"/>
          </a:xfrm>
          <a:prstGeom prst="rect">
            <a:avLst/>
          </a:prstGeom>
          <a:solidFill>
            <a:srgbClr val="FFE4E6">
              <a:alpha val="80000"/>
            </a:srgbClr>
          </a:solidFill>
          <a:ln w="12700">
            <a:solidFill>
              <a:srgbClr val="FFE4E6">
                <a:alpha val="8000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514600" y="3465576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11D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/Bug Reports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2514600" y="3813048"/>
            <a:ext cx="15910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issues at github.com/rashidee/co2-skills/issues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306824" y="3355848"/>
            <a:ext cx="1755648" cy="1353312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76200" dist="25400" dir="8100000">
              <a:srgbClr val="64748B">
                <a:alpha val="10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4306824" y="3355848"/>
            <a:ext cx="1755648" cy="4572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398264" y="3465576"/>
            <a:ext cx="1572768" cy="274320"/>
          </a:xfrm>
          <a:prstGeom prst="rect">
            <a:avLst/>
          </a:prstGeom>
          <a:solidFill>
            <a:srgbClr val="FEF3C7">
              <a:alpha val="80000"/>
            </a:srgbClr>
          </a:solidFill>
          <a:ln w="12700">
            <a:solidFill>
              <a:srgbClr val="FEF3C7">
                <a:alpha val="80000"/>
              </a:srgbClr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416552" y="3465576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9770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/Docs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4416552" y="3813048"/>
            <a:ext cx="15910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 README, skill docs and usage examples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Compound Context (CO2) Workflow</dc:title>
  <dc:subject>PptxGenJS Presentation</dc:subject>
  <dc:creator>Rashidee</dc:creator>
  <cp:lastModifiedBy>Rashidee</cp:lastModifiedBy>
  <cp:revision>1</cp:revision>
  <dcterms:created xsi:type="dcterms:W3CDTF">2026-03-15T12:33:44Z</dcterms:created>
  <dcterms:modified xsi:type="dcterms:W3CDTF">2026-03-15T12:33:44Z</dcterms:modified>
</cp:coreProperties>
</file>